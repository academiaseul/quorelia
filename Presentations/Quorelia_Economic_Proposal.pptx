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cost (US$ thousands)</c:v>
                </c:pt>
              </c:strCache>
            </c:strRef>
          </c:tx>
          <c:spPr>
            <a:solidFill>
              <a:srgbClr val="1A37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0B1C2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375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375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B6A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Market benchmark — low</c:v>
                  </c:pt>
                  <c:pt idx="1">
                    <c:v>Market benchmark — high</c:v>
                  </c:pt>
                  <c:pt idx="2">
                    <c:v>Proposed beta price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300</c:v>
                </c:pt>
                <c:pt idx="1">
                  <c:v>1000</c:v>
                </c:pt>
                <c:pt idx="2">
                  <c:v>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0B1C2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E577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9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US$ thousands / year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E577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363636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011680"/>
            <a:ext cx="5943600" cy="5943600"/>
          </a:xfrm>
          <a:prstGeom prst="ellipse">
            <a:avLst/>
          </a:prstGeom>
          <a:solidFill>
            <a:srgbClr val="122A40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914400"/>
            <a:ext cx="3291840" cy="3291840"/>
          </a:xfrm>
          <a:prstGeom prst="ellipse">
            <a:avLst/>
          </a:prstGeom>
          <a:solidFill>
            <a:srgbClr val="1A375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920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PROPOSAL  ·  BETA PROGRAM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9875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BESS Monitoring &amp; Reporting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pricing and value proposal for the investors and stakeholders of the plant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Quorelia  ·  August 2026</a:t>
            </a:r>
            <a:endParaRPr lang="en-US" sz="1200" dirty="0"/>
          </a:p>
        </p:txBody>
      </p:sp>
      <p:pic>
        <p:nvPicPr>
          <p:cNvPr id="8" name="Image 0" descr="/sessions/exciting-busy-einstein/mnt/outputs/quorelia-logo-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0" y="502920"/>
            <a:ext cx="2606040" cy="21214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stakes: a 1 GW asset under a hard contractual guarantee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2084832" cy="1463040"/>
          </a:xfrm>
          <a:prstGeom prst="roundRect">
            <a:avLst>
              <a:gd name="adj" fmla="val 5000"/>
            </a:avLst>
          </a:prstGeom>
          <a:solidFill>
            <a:srgbClr val="0F2536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755648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B6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242316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889504" y="1554480"/>
            <a:ext cx="2084832" cy="1463040"/>
          </a:xfrm>
          <a:prstGeom prst="roundRect">
            <a:avLst>
              <a:gd name="adj" fmla="val 5000"/>
            </a:avLst>
          </a:prstGeom>
          <a:solidFill>
            <a:srgbClr val="0F2536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89504" y="1755648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B6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889504" y="242316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 units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138928" y="1554480"/>
            <a:ext cx="2084832" cy="1463040"/>
          </a:xfrm>
          <a:prstGeom prst="roundRect">
            <a:avLst>
              <a:gd name="adj" fmla="val 5000"/>
            </a:avLst>
          </a:prstGeom>
          <a:solidFill>
            <a:srgbClr val="0F2536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38928" y="1755648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B6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888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138928" y="242316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racks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88352" y="1554480"/>
            <a:ext cx="2084832" cy="1463040"/>
          </a:xfrm>
          <a:prstGeom prst="roundRect">
            <a:avLst>
              <a:gd name="adj" fmla="val 5000"/>
            </a:avLst>
          </a:prstGeom>
          <a:solidFill>
            <a:srgbClr val="0F2536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88352" y="1755648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B6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369,408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388352" y="242316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cells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637776" y="1554480"/>
            <a:ext cx="2084832" cy="1463040"/>
          </a:xfrm>
          <a:prstGeom prst="roundRect">
            <a:avLst>
              <a:gd name="adj" fmla="val 5000"/>
            </a:avLst>
          </a:prstGeom>
          <a:solidFill>
            <a:srgbClr val="0F2536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37776" y="1755648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B6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518,000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637776" y="242316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channels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3429000"/>
            <a:ext cx="10881360" cy="2377440"/>
          </a:xfrm>
          <a:prstGeom prst="roundRect">
            <a:avLst>
              <a:gd name="adj" fmla="val 3077"/>
            </a:avLst>
          </a:prstGeom>
          <a:solidFill>
            <a:srgbClr val="122A40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37033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98% GAA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1005840" y="45262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Annual Availability owed to CATL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0" y="3794760"/>
            <a:ext cx="6583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hourly, per ESS unit, on a DC measurement basis, and accumulated annually. This is not an internal KPI — it is the figure the plant reports to its offtake partner. Every report that goes out either supports this number or explains, in writing, why it cannot be certified yet.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E5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Quorelia — Economic Proposal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E5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reporting doesn’t scale to this — and a wrong number isn’t a typo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502920" cy="502920"/>
          </a:xfrm>
          <a:prstGeom prst="ellipse">
            <a:avLst/>
          </a:prstGeom>
          <a:solidFill>
            <a:srgbClr val="0B1C2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30" dirty="0"/>
          </a:p>
        </p:txBody>
      </p:sp>
      <p:sp>
        <p:nvSpPr>
          <p:cNvPr id="5" name="Text 3"/>
          <p:cNvSpPr/>
          <p:nvPr/>
        </p:nvSpPr>
        <p:spPr>
          <a:xfrm>
            <a:off x="1417320" y="157276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Hours, every cycle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9659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E5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hours of manual work per day, across 888 racks, just to assemble one report.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651760"/>
            <a:ext cx="502920" cy="502920"/>
          </a:xfrm>
          <a:prstGeom prst="ellipse">
            <a:avLst/>
          </a:prstGeom>
          <a:solidFill>
            <a:srgbClr val="0B1C2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30" dirty="0"/>
          </a:p>
        </p:txBody>
      </p:sp>
      <p:sp>
        <p:nvSpPr>
          <p:cNvPr id="9" name="Text 7"/>
          <p:cNvSpPr/>
          <p:nvPr/>
        </p:nvSpPr>
        <p:spPr>
          <a:xfrm>
            <a:off x="1417320" y="262432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language for “we don’t know”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30175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E5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tooling can’t distinguish “no data,” “value is zero,” and “not enough data to certify” — they get treated the same.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703320"/>
            <a:ext cx="502920" cy="502920"/>
          </a:xfrm>
          <a:prstGeom prst="ellipse">
            <a:avLst/>
          </a:prstGeom>
          <a:solidFill>
            <a:srgbClr val="0B1C2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30" dirty="0"/>
          </a:p>
        </p:txBody>
      </p:sp>
      <p:sp>
        <p:nvSpPr>
          <p:cNvPr id="13" name="Text 11"/>
          <p:cNvSpPr/>
          <p:nvPr/>
        </p:nvSpPr>
        <p:spPr>
          <a:xfrm>
            <a:off x="1417320" y="367588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wrong figure is a commercial event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40690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E5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miscalculated contractual number reaching CATL isn’t an internal slip — it’s a credibility problem with the offtake partner.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89204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FDF2E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029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6B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example, already caught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53492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 calculation once produced a “202% round-trip efficiency” and, separately, a “54% availability” that was actually a data-coverage problem. Both were blocked before publication — by design, not by luck.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E5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Quorelia — Economic Proposal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E5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Quorelia actually does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and automated reporting — not a maintenance dispatch or field-service tool.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01568" cy="2011680"/>
          </a:xfrm>
          <a:prstGeom prst="roundRect">
            <a:avLst>
              <a:gd name="adj" fmla="val 3636"/>
            </a:avLst>
          </a:prstGeom>
          <a:solidFill>
            <a:srgbClr val="0F2536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92808"/>
            <a:ext cx="2944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daily &amp; monthly reports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68680" y="2560320"/>
            <a:ext cx="29443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on schedule, straight from plant data — no manual pull, no manual formatting.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178808" y="1691640"/>
            <a:ext cx="3401568" cy="2011680"/>
          </a:xfrm>
          <a:prstGeom prst="roundRect">
            <a:avLst>
              <a:gd name="adj" fmla="val 3636"/>
            </a:avLst>
          </a:prstGeom>
          <a:solidFill>
            <a:srgbClr val="0F2536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07408" y="1892808"/>
            <a:ext cx="2944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Defensible, provenance-backed figures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407408" y="2560320"/>
            <a:ext cx="29443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is re-derived by an independent path before publishing. If the two don’t match, it doesn’t go out.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717536" y="1691640"/>
            <a:ext cx="3401568" cy="2011680"/>
          </a:xfrm>
          <a:prstGeom prst="roundRect">
            <a:avLst>
              <a:gd name="adj" fmla="val 3636"/>
            </a:avLst>
          </a:prstGeom>
          <a:solidFill>
            <a:srgbClr val="0F2536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46136" y="1892808"/>
            <a:ext cx="2944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Coverage-aware verdicts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946136" y="2560320"/>
            <a:ext cx="29443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data coverage is too thin, the contractual verdict is withheld and explained — never guessed.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886200"/>
            <a:ext cx="3401568" cy="2011680"/>
          </a:xfrm>
          <a:prstGeom prst="roundRect">
            <a:avLst>
              <a:gd name="adj" fmla="val 3636"/>
            </a:avLst>
          </a:prstGeom>
          <a:solidFill>
            <a:srgbClr val="0F2536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087368"/>
            <a:ext cx="2944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by default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68680" y="4754880"/>
            <a:ext cx="29443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report and portal renders in English and Spanish, no separate translation step.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178808" y="3886200"/>
            <a:ext cx="3401568" cy="2011680"/>
          </a:xfrm>
          <a:prstGeom prst="roundRect">
            <a:avLst>
              <a:gd name="adj" fmla="val 3636"/>
            </a:avLst>
          </a:prstGeom>
          <a:solidFill>
            <a:srgbClr val="0F2536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07408" y="4087368"/>
            <a:ext cx="2944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Alert-based, not 24/7 screen-watching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407408" y="4754880"/>
            <a:ext cx="29443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watches continuously; your people get dispatched only when something real needs attention.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E5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Quorelia — Economic Proposal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E5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works: from raw plant data to a defensible report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pipeline your dashboards and reports run on — nothing hidden.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26280" y="1600200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0F2536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26280" y="1600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C7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SCADA / Plant Data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80760" y="2057400"/>
            <a:ext cx="0" cy="201168"/>
          </a:xfrm>
          <a:prstGeom prst="line">
            <a:avLst/>
          </a:prstGeom>
          <a:noFill/>
          <a:ln w="19050">
            <a:solidFill>
              <a:srgbClr val="3E5771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526280" y="2258568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122A40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6280" y="22585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Quorelia Ingestion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80760" y="2715768"/>
            <a:ext cx="0" cy="201168"/>
          </a:xfrm>
          <a:prstGeom prst="line">
            <a:avLst/>
          </a:prstGeom>
          <a:noFill/>
          <a:ln w="19050">
            <a:solidFill>
              <a:srgbClr val="3E5771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526280" y="2916936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0F2536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291693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C7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80760" y="3374136"/>
            <a:ext cx="0" cy="201168"/>
          </a:xfrm>
          <a:prstGeom prst="line">
            <a:avLst/>
          </a:prstGeom>
          <a:noFill/>
          <a:ln w="19050">
            <a:solidFill>
              <a:srgbClr val="3E577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3575304"/>
            <a:ext cx="3566160" cy="0"/>
          </a:xfrm>
          <a:prstGeom prst="line">
            <a:avLst/>
          </a:prstGeom>
          <a:noFill/>
          <a:ln w="19050">
            <a:solidFill>
              <a:srgbClr val="3E577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3575304"/>
            <a:ext cx="0" cy="201168"/>
          </a:xfrm>
          <a:prstGeom prst="line">
            <a:avLst/>
          </a:prstGeom>
          <a:noFill/>
          <a:ln w="19050">
            <a:solidFill>
              <a:srgbClr val="3E5771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863840" y="3575304"/>
            <a:ext cx="0" cy="201168"/>
          </a:xfrm>
          <a:prstGeom prst="line">
            <a:avLst/>
          </a:prstGeom>
          <a:noFill/>
          <a:ln w="19050">
            <a:solidFill>
              <a:srgbClr val="3E577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651760" y="3776472"/>
            <a:ext cx="3291840" cy="457200"/>
          </a:xfrm>
          <a:prstGeom prst="roundRect">
            <a:avLst>
              <a:gd name="adj" fmla="val 12000"/>
            </a:avLst>
          </a:prstGeom>
          <a:solidFill>
            <a:srgbClr val="0F2536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51760" y="377647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Calculation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17920" y="3776472"/>
            <a:ext cx="3291840" cy="457200"/>
          </a:xfrm>
          <a:prstGeom prst="roundRect">
            <a:avLst>
              <a:gd name="adj" fmla="val 12000"/>
            </a:avLst>
          </a:prstGeom>
          <a:solidFill>
            <a:srgbClr val="0F2536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377647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Engine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297680" y="4233672"/>
            <a:ext cx="0" cy="201168"/>
          </a:xfrm>
          <a:prstGeom prst="line">
            <a:avLst/>
          </a:prstGeom>
          <a:noFill/>
          <a:ln w="19050">
            <a:solidFill>
              <a:srgbClr val="3E577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63840" y="4233672"/>
            <a:ext cx="0" cy="201168"/>
          </a:xfrm>
          <a:prstGeom prst="line">
            <a:avLst/>
          </a:prstGeom>
          <a:noFill/>
          <a:ln w="19050">
            <a:solidFill>
              <a:srgbClr val="3E577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97680" y="4434840"/>
            <a:ext cx="3566160" cy="0"/>
          </a:xfrm>
          <a:prstGeom prst="line">
            <a:avLst/>
          </a:prstGeom>
          <a:noFill/>
          <a:ln w="19050">
            <a:solidFill>
              <a:srgbClr val="3E577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80760" y="4434840"/>
            <a:ext cx="0" cy="201168"/>
          </a:xfrm>
          <a:prstGeom prst="line">
            <a:avLst/>
          </a:prstGeom>
          <a:noFill/>
          <a:ln w="19050">
            <a:solidFill>
              <a:srgbClr val="3E5771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526280" y="4636008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122A40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26280" y="463600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Engine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080760" y="5093208"/>
            <a:ext cx="0" cy="201168"/>
          </a:xfrm>
          <a:prstGeom prst="line">
            <a:avLst/>
          </a:prstGeom>
          <a:noFill/>
          <a:ln w="19050">
            <a:solidFill>
              <a:srgbClr val="3E577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97680" y="5294376"/>
            <a:ext cx="3566160" cy="0"/>
          </a:xfrm>
          <a:prstGeom prst="line">
            <a:avLst/>
          </a:prstGeom>
          <a:noFill/>
          <a:ln w="19050">
            <a:solidFill>
              <a:srgbClr val="3E577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97680" y="5294376"/>
            <a:ext cx="0" cy="201168"/>
          </a:xfrm>
          <a:prstGeom prst="line">
            <a:avLst/>
          </a:prstGeom>
          <a:noFill/>
          <a:ln w="19050">
            <a:solidFill>
              <a:srgbClr val="3E5771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863840" y="5294376"/>
            <a:ext cx="0" cy="201168"/>
          </a:xfrm>
          <a:prstGeom prst="line">
            <a:avLst/>
          </a:prstGeom>
          <a:noFill/>
          <a:ln w="19050">
            <a:solidFill>
              <a:srgbClr val="3E5771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2651760" y="5495544"/>
            <a:ext cx="3291840" cy="566928"/>
          </a:xfrm>
          <a:prstGeom prst="roundRect">
            <a:avLst>
              <a:gd name="adj" fmla="val 9677"/>
            </a:avLst>
          </a:prstGeom>
          <a:solidFill>
            <a:srgbClr val="0F2536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51760" y="549554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C7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
</a:t>
            </a:r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7C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Client Portal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217920" y="5495544"/>
            <a:ext cx="3291840" cy="566928"/>
          </a:xfrm>
          <a:prstGeom prst="roundRect">
            <a:avLst>
              <a:gd name="adj" fmla="val 9677"/>
            </a:avLst>
          </a:prstGeom>
          <a:solidFill>
            <a:srgbClr val="0F2536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549554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C7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
</a:t>
            </a:r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7C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PDF · Excel · Email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0080" y="631850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C7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data, calculated results, and provenance are stored together — every number that reaches a report has a documented explanation.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E5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Quorelia — Economic Proposal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E5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concept — already validated against real plant data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3447288" cy="3108960"/>
          </a:xfrm>
          <a:prstGeom prst="roundRect">
            <a:avLst>
              <a:gd name="adj" fmla="val 2353"/>
            </a:avLst>
          </a:prstGeom>
          <a:solidFill>
            <a:srgbClr val="0B1C2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148840"/>
            <a:ext cx="34472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FB6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670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960120" y="3429000"/>
            <a:ext cx="28072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run against the reporting engine before any figure ships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270248" y="1828800"/>
            <a:ext cx="3447288" cy="3108960"/>
          </a:xfrm>
          <a:prstGeom prst="roundRect">
            <a:avLst>
              <a:gd name="adj" fmla="val 2353"/>
            </a:avLst>
          </a:prstGeom>
          <a:solidFill>
            <a:srgbClr val="0B1C2C"/>
          </a:solidFill>
          <a:ln/>
        </p:spPr>
      </p:sp>
      <p:sp>
        <p:nvSpPr>
          <p:cNvPr id="7" name="Text 5"/>
          <p:cNvSpPr/>
          <p:nvPr/>
        </p:nvSpPr>
        <p:spPr>
          <a:xfrm>
            <a:off x="4270248" y="2148840"/>
            <a:ext cx="34472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FB6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4590288" y="3429000"/>
            <a:ext cx="28072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erroneous figures caught and blocked before they could be published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900416" y="1828800"/>
            <a:ext cx="3447288" cy="3108960"/>
          </a:xfrm>
          <a:prstGeom prst="roundRect">
            <a:avLst>
              <a:gd name="adj" fmla="val 2353"/>
            </a:avLst>
          </a:prstGeom>
          <a:solidFill>
            <a:srgbClr val="0B1C2C"/>
          </a:solidFill>
          <a:ln/>
        </p:spPr>
      </p:sp>
      <p:sp>
        <p:nvSpPr>
          <p:cNvPr id="10" name="Text 8"/>
          <p:cNvSpPr/>
          <p:nvPr/>
        </p:nvSpPr>
        <p:spPr>
          <a:xfrm>
            <a:off x="7900416" y="2148840"/>
            <a:ext cx="34472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FB6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8220456" y="3429000"/>
            <a:ext cx="28072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surfaced that weren’t part of the original scope of work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" y="51663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C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reference run analyzed for this proposal — not illustrative figures.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E5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Quorelia — Economic Proposal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E5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is worth, in hours and dollars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0F2536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" y="1947672"/>
            <a:ext cx="2276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FB6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2–3 h → ~2 min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" y="2926080"/>
            <a:ext cx="2276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manual reporting time, per cycle, across 888 racks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392424" y="169164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0F2536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57016" y="1947672"/>
            <a:ext cx="2276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FB6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500–750 h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557016" y="2926080"/>
            <a:ext cx="2276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per year across 250 business days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44768" y="169164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0F2536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947672"/>
            <a:ext cx="2276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FB6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US$13,000–21,000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309360" y="2926080"/>
            <a:ext cx="2276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annual labor cost avoided (CLP 12–19M)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897112" y="169164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0F2536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61704" y="1947672"/>
            <a:ext cx="2276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FB6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for 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061704" y="2926080"/>
            <a:ext cx="2276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Erroneous contractual figures caught before reaching CATL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" y="42976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C7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figures cover labor time alone. They do not price the larger exposure this proposal actually addresses: the commercial and reputational risk of an incorrect contractual figure reaching CATL.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E5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Quorelia — Economic Proposal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E5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class of service typically costs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5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Annualized cost, monitoring-only services, for a 1,000 MW BESS asset (US$ thousands)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822960" y="1691640"/>
          <a:ext cx="103327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3093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C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— based on public per-MW benchmarks for BESS monitoring-only services (US$300–1,000/MW/year). Not a quote from any specific vendor.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E5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Quorelia — Economic Proposal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E5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structure: Beta Program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Priced per plant and per MW, so it scales cleanly beyond this first site.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120640" cy="3246120"/>
          </a:xfrm>
          <a:prstGeom prst="roundRect">
            <a:avLst>
              <a:gd name="adj" fmla="val 2817"/>
            </a:avLst>
          </a:prstGeom>
          <a:solidFill>
            <a:srgbClr val="0F2536"/>
          </a:solidFill>
          <a:ln w="19050">
            <a:solidFill>
              <a:srgbClr val="1FB6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276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FEE — BETA RATE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14400" y="193852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US$500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7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month per plant  +  </a:t>
            </a:r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US$2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7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MW / month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14400" y="2578608"/>
            <a:ext cx="4572000" cy="0"/>
          </a:xfrm>
          <a:prstGeom prst="line">
            <a:avLst/>
          </a:prstGeom>
          <a:noFill/>
          <a:ln w="12700">
            <a:solidFill>
              <a:srgbClr val="1E3A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7249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7C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· THIS PLANT (1,000 MW)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14400" y="299923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US$2,500 / month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14400" y="3566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US$30,000 / year  ·  12-month initial term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97764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7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Includes: automated daily/monthly reports, provenance-backed figures, coverage-aware verdicts, bilingual EN/ES, alert routing.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897880" y="1417320"/>
            <a:ext cx="5623560" cy="3246120"/>
          </a:xfrm>
          <a:prstGeom prst="roundRect">
            <a:avLst>
              <a:gd name="adj" fmla="val 2817"/>
            </a:avLst>
          </a:prstGeom>
          <a:solidFill>
            <a:srgbClr val="0F2536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2200" y="162763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SETUP &amp; DATA ONBOARDING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172200" y="192024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US$6,000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172200" y="26060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 once, at contract signature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72200" y="3063240"/>
            <a:ext cx="5074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7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full-history KPI extraction across all 518,000 channels, deduplication and mapping of the physical asset catalog, and building the initial ~30 TB annual data store — verified before go-live, not estimated after.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46320"/>
            <a:ext cx="10881360" cy="1508760"/>
          </a:xfrm>
          <a:prstGeom prst="roundRect">
            <a:avLst>
              <a:gd name="adj" fmla="val 6061"/>
            </a:avLst>
          </a:prstGeom>
          <a:solidFill>
            <a:srgbClr val="0D1F2E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5138928"/>
            <a:ext cx="411480" cy="411480"/>
          </a:xfrm>
          <a:prstGeom prst="ellipse">
            <a:avLst/>
          </a:prstGeom>
          <a:solidFill>
            <a:srgbClr val="1FB6A8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51389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70" dirty="0"/>
          </a:p>
        </p:txBody>
      </p:sp>
      <p:sp>
        <p:nvSpPr>
          <p:cNvPr id="20" name="Text 18"/>
          <p:cNvSpPr/>
          <p:nvPr/>
        </p:nvSpPr>
        <p:spPr>
          <a:xfrm>
            <a:off x="1463040" y="510235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0–6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63040" y="544068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rate in effect; joint checkpoint on scope and data quality.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480560" y="5138928"/>
            <a:ext cx="411480" cy="411480"/>
          </a:xfrm>
          <a:prstGeom prst="ellipse">
            <a:avLst/>
          </a:prstGeom>
          <a:solidFill>
            <a:srgbClr val="1FB6A8"/>
          </a:solidFill>
          <a:ln/>
        </p:spPr>
      </p:sp>
      <p:sp>
        <p:nvSpPr>
          <p:cNvPr id="23" name="Text 21"/>
          <p:cNvSpPr/>
          <p:nvPr/>
        </p:nvSpPr>
        <p:spPr>
          <a:xfrm>
            <a:off x="4480560" y="51389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70" dirty="0"/>
          </a:p>
        </p:txBody>
      </p:sp>
      <p:sp>
        <p:nvSpPr>
          <p:cNvPr id="24" name="Text 22"/>
          <p:cNvSpPr/>
          <p:nvPr/>
        </p:nvSpPr>
        <p:spPr>
          <a:xfrm>
            <a:off x="5029200" y="510235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6–12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29200" y="544068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reassessed against scope and market benchmarks — in writing.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046720" y="5138928"/>
            <a:ext cx="411480" cy="411480"/>
          </a:xfrm>
          <a:prstGeom prst="ellipse">
            <a:avLst/>
          </a:prstGeom>
          <a:solidFill>
            <a:srgbClr val="1FB6A8"/>
          </a:solidFill>
          <a:ln/>
        </p:spPr>
      </p:sp>
      <p:sp>
        <p:nvSpPr>
          <p:cNvPr id="27" name="Text 25"/>
          <p:cNvSpPr/>
          <p:nvPr/>
        </p:nvSpPr>
        <p:spPr>
          <a:xfrm>
            <a:off x="8046720" y="51389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70" dirty="0"/>
          </a:p>
        </p:txBody>
      </p:sp>
      <p:sp>
        <p:nvSpPr>
          <p:cNvPr id="28" name="Text 26"/>
          <p:cNvSpPr/>
          <p:nvPr/>
        </p:nvSpPr>
        <p:spPr>
          <a:xfrm>
            <a:off x="8595360" y="510235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12+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595360" y="544068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at a market-aligned rate, or a renegotiated scope.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E5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Quorelia — Economic Proposal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E5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exchange for beta pricing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E5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founding-client price should buy something back, not just be a discount.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166360" cy="1828800"/>
          </a:xfrm>
          <a:prstGeom prst="roundRect">
            <a:avLst>
              <a:gd name="adj" fmla="val 4000"/>
            </a:avLst>
          </a:prstGeom>
          <a:solidFill>
            <a:srgbClr val="F7F9FA"/>
          </a:solidFill>
          <a:ln w="12700">
            <a:solidFill>
              <a:srgbClr val="E3E9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48256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Reference-client rights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542032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E5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study, a reference call for future prospects, and logo/name use in Quorelia materials.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55080" y="1828800"/>
            <a:ext cx="5166360" cy="1828800"/>
          </a:xfrm>
          <a:prstGeom prst="roundRect">
            <a:avLst>
              <a:gd name="adj" fmla="val 4000"/>
            </a:avLst>
          </a:prstGeom>
          <a:solidFill>
            <a:srgbClr val="F7F9FA"/>
          </a:solidFill>
          <a:ln w="12700">
            <a:solidFill>
              <a:srgbClr val="E3E9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2048256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feedback partnership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629400" y="2542032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E5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input during the beta period as the platform and its report set mature.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931920"/>
            <a:ext cx="5166360" cy="1828800"/>
          </a:xfrm>
          <a:prstGeom prst="roundRect">
            <a:avLst>
              <a:gd name="adj" fmla="val 4000"/>
            </a:avLst>
          </a:prstGeom>
          <a:solidFill>
            <a:srgbClr val="F7F9FA"/>
          </a:solidFill>
          <a:ln w="12700">
            <a:solidFill>
              <a:srgbClr val="E3E9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151376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step-up schedule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4645152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E5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month-6 and month-12 review points agreed upfront, not renegotiated later under pressure.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55080" y="3931920"/>
            <a:ext cx="5166360" cy="1828800"/>
          </a:xfrm>
          <a:prstGeom prst="roundRect">
            <a:avLst>
              <a:gd name="adj" fmla="val 4000"/>
            </a:avLst>
          </a:prstGeom>
          <a:solidFill>
            <a:srgbClr val="F7F9FA"/>
          </a:solidFill>
          <a:ln w="12700">
            <a:solidFill>
              <a:srgbClr val="E3E9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4151376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initial term (optional)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29400" y="4645152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E5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longer commitment in exchange for holding the beta rate for the full term.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E5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Quorelia — Economic Proposal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E5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next steps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920240"/>
            <a:ext cx="548640" cy="548640"/>
          </a:xfrm>
          <a:prstGeom prst="ellipse">
            <a:avLst/>
          </a:prstGeom>
          <a:solidFill>
            <a:srgbClr val="1FB6A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6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approve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7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review this proposal and approve the beta agreement and pricing structure.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172968" y="1901952"/>
            <a:ext cx="164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C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337560" y="1920240"/>
            <a:ext cx="548640" cy="548640"/>
          </a:xfrm>
          <a:prstGeom prst="ellipse">
            <a:avLst/>
          </a:prstGeom>
          <a:solidFill>
            <a:srgbClr val="1FB6A8"/>
          </a:solidFill>
          <a:ln/>
        </p:spPr>
      </p:sp>
      <p:sp>
        <p:nvSpPr>
          <p:cNvPr id="9" name="Text 7"/>
          <p:cNvSpPr/>
          <p:nvPr/>
        </p:nvSpPr>
        <p:spPr>
          <a:xfrm>
            <a:off x="333756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60" dirty="0"/>
          </a:p>
        </p:txBody>
      </p:sp>
      <p:sp>
        <p:nvSpPr>
          <p:cNvPr id="10" name="Text 8"/>
          <p:cNvSpPr/>
          <p:nvPr/>
        </p:nvSpPr>
        <p:spPr>
          <a:xfrm>
            <a:off x="3337560" y="26517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data feeds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37560" y="32004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7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existing SCADA/monitoring sources — no rip-and-replace of current systems.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870448" y="1901952"/>
            <a:ext cx="164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C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035040" y="1920240"/>
            <a:ext cx="548640" cy="548640"/>
          </a:xfrm>
          <a:prstGeom prst="ellipse">
            <a:avLst/>
          </a:prstGeom>
          <a:solidFill>
            <a:srgbClr val="1FB6A8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60" dirty="0"/>
          </a:p>
        </p:txBody>
      </p:sp>
      <p:sp>
        <p:nvSpPr>
          <p:cNvPr id="15" name="Text 13"/>
          <p:cNvSpPr/>
          <p:nvPr/>
        </p:nvSpPr>
        <p:spPr>
          <a:xfrm>
            <a:off x="6035040" y="26517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035040" y="32004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7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and monthly automated reporting begins, in English and Spanish.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567928" y="1901952"/>
            <a:ext cx="164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C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732520" y="1920240"/>
            <a:ext cx="548640" cy="548640"/>
          </a:xfrm>
          <a:prstGeom prst="ellipse">
            <a:avLst/>
          </a:prstGeom>
          <a:solidFill>
            <a:srgbClr val="1FB6A8"/>
          </a:solidFill>
          <a:ln/>
        </p:spPr>
      </p:sp>
      <p:sp>
        <p:nvSpPr>
          <p:cNvPr id="19" name="Text 17"/>
          <p:cNvSpPr/>
          <p:nvPr/>
        </p:nvSpPr>
        <p:spPr>
          <a:xfrm>
            <a:off x="873252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0B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60" dirty="0"/>
          </a:p>
        </p:txBody>
      </p:sp>
      <p:sp>
        <p:nvSpPr>
          <p:cNvPr id="20" name="Text 18"/>
          <p:cNvSpPr/>
          <p:nvPr/>
        </p:nvSpPr>
        <p:spPr>
          <a:xfrm>
            <a:off x="8732520" y="26517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6-month review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732520" y="32004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7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checkpoint against the agreed scope and the scheduled pricing step-up.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E5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Quorelia — Economic Proposal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E5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943600" cy="5943600"/>
          </a:xfrm>
          <a:prstGeom prst="ellipse">
            <a:avLst/>
          </a:prstGeom>
          <a:solidFill>
            <a:srgbClr val="122A4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Let’s make the next report the one nobody has to double-check.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4023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Quorelia  ·  hello@quorelia.io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603504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7C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proposal is prepared for internal discussion and is not a binding offer. Pricing, market-benchmark, and savings figures are estimates to be confirmed before signature.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2026-08-08T14:36:55Z</dcterms:created>
  <dcterms:modified xsi:type="dcterms:W3CDTF">2026-08-08T14:36:55Z</dcterms:modified>
</cp:coreProperties>
</file>