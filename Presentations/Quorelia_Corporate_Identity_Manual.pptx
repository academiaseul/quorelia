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image" Target="../media/image-21-1.png"/><Relationship Id="rId4" Type="http://schemas.openxmlformats.org/officeDocument/2006/relationships/image" Target="../media/image-2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-3108960"/>
            <a:ext cx="6858000" cy="6858000"/>
          </a:xfrm>
          <a:prstGeom prst="ellipse">
            <a:avLst/>
          </a:prstGeom>
          <a:solidFill>
            <a:srgbClr val="122A4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1828800"/>
            <a:ext cx="3840480" cy="3840480"/>
          </a:xfrm>
          <a:prstGeom prst="ellipse">
            <a:avLst/>
          </a:prstGeom>
          <a:solidFill>
            <a:srgbClr val="1A3752"/>
          </a:solidFill>
          <a:ln/>
        </p:spPr>
      </p:sp>
      <p:pic>
        <p:nvPicPr>
          <p:cNvPr id="4" name="Image 0" descr="/sessions/exciting-busy-einstein/mnt/outputs/quorelia-qmark-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1417320" cy="1289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QUORELIA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IDENTITY MANUAL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manual defines how the Quorelia identity is built and used — the logo, color, typography, and the rules that keep the brand consistent across every material we produce, from a client dashboard to a business card.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is an independent monitoring and automated-reporting layer for renewable energy assets — built first for a live 1,000 MW BESS plant, and designed to extend across solar, wind, and storage. Every element of this system is built to reinforce one idea: a number you can stand behind.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463040"/>
            <a:ext cx="3749040" cy="4480560"/>
          </a:xfrm>
          <a:prstGeom prst="roundRect">
            <a:avLst>
              <a:gd name="adj" fmla="val 1951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4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STRUCTURE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0" y="2148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95360" y="2130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0" y="24414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color, typography, iconography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0" y="3108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95360" y="3090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95360" y="34015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Stationery, templates, digital, social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94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System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 1-1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Composition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2057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414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 1-2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2441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Space &amp; Minimum Size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0" y="2441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2549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 1-3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28254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Color Usage — Full Color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282549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2095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 1-4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2095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Color Usage — Solid Color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32095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59359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 1-5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3593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on Backgrounds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0" y="3593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 1-6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17320" y="3977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Usage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54880" y="3977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3616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 2-1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17320" y="4361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System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54880" y="43616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74573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 2-2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17320" y="47457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54880" y="47457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12978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 2-3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17320" y="51297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Iconography &amp; Graphic Motif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754880" y="51297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94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Design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09360" y="20574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 1-1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8660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Card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424160" y="2057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24414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 1-2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86600" y="2441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Signature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424160" y="2441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282549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 1-3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86600" y="28254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Letterhead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424160" y="282549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9360" y="32095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 1-4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86600" y="32095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Template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0424160" y="32095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09360" y="359359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 1-5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086600" y="3593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Template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424160" y="3593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09360" y="3977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 2-1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86600" y="3977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0424160" y="3977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309360" y="43616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 2-2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086600" y="4361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Profile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10424160" y="43616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09360" y="474573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086600" y="47457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Governance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10424160" y="47457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743200"/>
            <a:ext cx="6400800" cy="6400800"/>
          </a:xfrm>
          <a:prstGeom prst="ellipse">
            <a:avLst/>
          </a:prstGeom>
          <a:solidFill>
            <a:srgbClr val="122A4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68680" y="33832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68680" y="4069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color, typography, and the rules that hold them together.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1-1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 Composition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Quorelia mark is built from two locked elements: the Symbol and the Logotype. The two are never separated, resized independently, or rearranged.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1828800"/>
            <a:ext cx="5029200" cy="4206240"/>
          </a:xfrm>
          <a:prstGeom prst="roundRect">
            <a:avLst>
              <a:gd name="adj" fmla="val 1304"/>
            </a:avLst>
          </a:prstGeom>
          <a:solidFill>
            <a:srgbClr val="0B1C2C"/>
          </a:solidFill>
          <a:ln/>
        </p:spPr>
      </p:sp>
      <p:pic>
        <p:nvPicPr>
          <p:cNvPr id="6" name="Image 0" descr="/sessions/exciting-busy-einstein/mnt/outputs/quorelia-logo-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286000"/>
            <a:ext cx="2834640" cy="2304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03120" y="4846320"/>
            <a:ext cx="356616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03120" y="5029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LOCKUP  ·  full color on dark background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76656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Symbol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66560" y="22219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circular form for continuous, 24/7 monitoring, with an internal signal path standing in for live plant data — resolving into the Q.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766560" y="3172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Logotype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66560" y="35204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 Cambria, wide-tracked capitals. Used only in the exact proportion shown — never condensed, expanded, or re-set in another face.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766560" y="44714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proportion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766560" y="481888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height is fixed relative to logotype width. Treat the lockup as one object when placing or resizing it.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1-2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Space &amp; Minimum Size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SPACE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dash"/>
          </a:ln>
        </p:spPr>
      </p:sp>
      <p:pic>
        <p:nvPicPr>
          <p:cNvPr id="6" name="Image 0" descr="/sessions/exciting-busy-einstein/mnt/outputs/quorelia-qmark-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2514600"/>
            <a:ext cx="2286000" cy="2084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3566160"/>
            <a:ext cx="1234440" cy="0"/>
          </a:xfrm>
          <a:prstGeom prst="line">
            <a:avLst/>
          </a:prstGeom>
          <a:noFill/>
          <a:ln w="12700">
            <a:solidFill>
              <a:srgbClr val="1FB6A8"/>
            </a:solidFill>
            <a:prstDash val="solid"/>
            <a:headEnd type="triangl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709160" y="3566160"/>
            <a:ext cx="1097280" cy="0"/>
          </a:xfrm>
          <a:prstGeom prst="line">
            <a:avLst/>
          </a:prstGeom>
          <a:noFill/>
          <a:ln w="12700">
            <a:solidFill>
              <a:srgbClr val="1FB6A8"/>
            </a:solidFill>
            <a:prstDash val="solid"/>
            <a:headEnd type="triangle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2606040" y="5532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9436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"X" = the height of the Symbol. Keep at least one X of clear space on every side of the lockup — nothing else (text, edges, other logos) may enter that margin.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7512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SIZE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75120" y="1554480"/>
            <a:ext cx="4846320" cy="1965960"/>
          </a:xfrm>
          <a:prstGeom prst="roundRect">
            <a:avLst>
              <a:gd name="adj" fmla="val 2791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pic>
        <p:nvPicPr>
          <p:cNvPr id="13" name="Image 1" descr="/sessions/exciting-busy-einstein/mnt/outputs/quorelia-qmark-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755648"/>
            <a:ext cx="777240" cy="7040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49440" y="25054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QUORELIA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905256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lockup — digital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052560" y="22677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width: 120px  /  32mm print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675120" y="3703320"/>
            <a:ext cx="4846320" cy="1965960"/>
          </a:xfrm>
          <a:prstGeom prst="roundRect">
            <a:avLst>
              <a:gd name="adj" fmla="val 2791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pic>
        <p:nvPicPr>
          <p:cNvPr id="18" name="Image 2" descr="/sessions/exciting-busy-einstein/mnt/outputs/quorelia-qmark-on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977640"/>
            <a:ext cx="1188720" cy="10789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9536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alone — favicon / app icon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595360" y="44165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width: 24px  /  8mm print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1-3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 Color Usage — Full Color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full-color lockup is the default. Use it whenever the background provides enough contrast.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5875">
            <a:solidFill>
              <a:srgbClr val="E3E9EC"/>
            </a:solidFill>
            <a:prstDash val="solid"/>
          </a:ln>
        </p:spPr>
      </p:sp>
      <p:pic>
        <p:nvPicPr>
          <p:cNvPr id="6" name="Image 0" descr="/sessions/exciting-busy-einstein/mnt/outputs/quorelia-qmark-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912" y="2697480"/>
            <a:ext cx="1325880" cy="12070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80" kern="0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QUORELIA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53492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white / light backgrounds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257800" cy="3931920"/>
          </a:xfrm>
          <a:prstGeom prst="roundRect">
            <a:avLst>
              <a:gd name="adj" fmla="val 1395"/>
            </a:avLst>
          </a:prstGeom>
          <a:solidFill>
            <a:srgbClr val="0B1C2C"/>
          </a:solidFill>
          <a:ln/>
        </p:spPr>
      </p:sp>
      <p:pic>
        <p:nvPicPr>
          <p:cNvPr id="10" name="Image 1" descr="/sessions/exciting-busy-einstein/mnt/outputs/quorelia-logo-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743200"/>
            <a:ext cx="2743200" cy="22311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3640" y="53492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navy / dark backgrounds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1-4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 Color Usage — Solid Color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full color isn't available — one-color print, engraving, watermarks, fax — use the solid navy or solid white lockup. Never substitute another color.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5875">
            <a:solidFill>
              <a:srgbClr val="E3E9EC"/>
            </a:solidFill>
            <a:prstDash val="solid"/>
          </a:ln>
        </p:spPr>
      </p:sp>
      <p:pic>
        <p:nvPicPr>
          <p:cNvPr id="6" name="Image 0" descr="/sessions/exciting-busy-einstein/mnt/outputs/ci-full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788920"/>
            <a:ext cx="2743200" cy="22311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3035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Navy — on white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63640" y="1783080"/>
            <a:ext cx="5257800" cy="3886200"/>
          </a:xfrm>
          <a:prstGeom prst="roundRect">
            <a:avLst>
              <a:gd name="adj" fmla="val 1412"/>
            </a:avLst>
          </a:prstGeom>
          <a:solidFill>
            <a:srgbClr val="0B1C2C"/>
          </a:solidFill>
          <a:ln/>
        </p:spPr>
      </p:sp>
      <p:pic>
        <p:nvPicPr>
          <p:cNvPr id="9" name="Image 1" descr="/sessions/exciting-busy-einstein/mnt/outputs/ci-full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788920"/>
            <a:ext cx="2743200" cy="22311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53035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White — on navy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1-5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 on Backgrounds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background treatments and which lockup to pair with each.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</p:spPr>
      </p:sp>
      <p:pic>
        <p:nvPicPr>
          <p:cNvPr id="6" name="Image 0" descr="/sessions/exciting-busy-einstein/mnt/outputs/quorelia-qmark-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606040"/>
            <a:ext cx="1353312" cy="1234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80060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28416" y="182880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pic>
        <p:nvPicPr>
          <p:cNvPr id="9" name="Image 1" descr="/sessions/exciting-busy-einstein/mnt/outputs/quorelia-qmark-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76" y="2606040"/>
            <a:ext cx="1353312" cy="1234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28416" y="480060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gray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16752" y="182880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0B1C2C"/>
          </a:solidFill>
          <a:ln/>
        </p:spPr>
      </p:sp>
      <p:pic>
        <p:nvPicPr>
          <p:cNvPr id="12" name="Image 2" descr="/sessions/exciting-busy-einstein/mnt/outputs/ci-qmar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606040"/>
            <a:ext cx="1353312" cy="12344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16752" y="480060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8705088" y="182880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149487"/>
          </a:solidFill>
          <a:ln/>
        </p:spPr>
      </p:sp>
      <p:pic>
        <p:nvPicPr>
          <p:cNvPr id="15" name="Image 3" descr="/sessions/exciting-busy-einstein/mnt/outputs/ci-qmar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48" y="2606040"/>
            <a:ext cx="1353312" cy="12344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05088" y="480060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(dark)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40080" y="53492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full color on white or light gray, solid white on navy/dark or busy photography — never full color on a dark or saturated background.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1-6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Incorrect Usage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logo is a fixed asset, not a design element. These are the most common misuses — avoid all of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02152" cy="2148840"/>
          </a:xfrm>
          <a:prstGeom prst="roundRect">
            <a:avLst>
              <a:gd name="adj" fmla="val 2553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pic>
        <p:nvPicPr>
          <p:cNvPr id="6" name="Image 0" descr="/sessions/exciting-busy-einstein/mnt/outputs/mis-stretch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496" y="1837944"/>
            <a:ext cx="1417320" cy="11338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85032" y="180136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435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757452" y="1873788"/>
            <a:ext cx="184343" cy="184343"/>
          </a:xfrm>
          <a:prstGeom prst="line">
            <a:avLst/>
          </a:prstGeom>
          <a:noFill/>
          <a:ln w="27940">
            <a:solidFill>
              <a:srgbClr val="E0435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57452" y="2058132"/>
            <a:ext cx="184343" cy="-184343"/>
          </a:xfrm>
          <a:prstGeom prst="line">
            <a:avLst/>
          </a:prstGeom>
          <a:noFill/>
          <a:ln w="27940">
            <a:solidFill>
              <a:srgbClr val="E043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333756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stretch or distort the proportions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79392" y="1691640"/>
            <a:ext cx="3502152" cy="2148840"/>
          </a:xfrm>
          <a:prstGeom prst="roundRect">
            <a:avLst>
              <a:gd name="adj" fmla="val 2553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pic>
        <p:nvPicPr>
          <p:cNvPr id="12" name="Image 1" descr="/sessions/exciting-busy-einstein/mnt/outputs/mis-rota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1837944"/>
            <a:ext cx="1417320" cy="11338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324344" y="180136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435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96764" y="1873788"/>
            <a:ext cx="184343" cy="184343"/>
          </a:xfrm>
          <a:prstGeom prst="line">
            <a:avLst/>
          </a:prstGeom>
          <a:noFill/>
          <a:ln w="27940">
            <a:solidFill>
              <a:srgbClr val="E043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96764" y="2058132"/>
            <a:ext cx="184343" cy="-184343"/>
          </a:xfrm>
          <a:prstGeom prst="line">
            <a:avLst/>
          </a:prstGeom>
          <a:noFill/>
          <a:ln w="27940">
            <a:solidFill>
              <a:srgbClr val="E0435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443984" y="333756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rotate the mark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918704" y="1691640"/>
            <a:ext cx="3502152" cy="2148840"/>
          </a:xfrm>
          <a:prstGeom prst="roundRect">
            <a:avLst>
              <a:gd name="adj" fmla="val 2553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pic>
        <p:nvPicPr>
          <p:cNvPr id="18" name="Image 2" descr="/sessions/exciting-busy-einstein/mnt/outputs/mis-recolo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837944"/>
            <a:ext cx="1417320" cy="11338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0963656" y="180136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435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1036076" y="1873788"/>
            <a:ext cx="184343" cy="184343"/>
          </a:xfrm>
          <a:prstGeom prst="line">
            <a:avLst/>
          </a:prstGeom>
          <a:noFill/>
          <a:ln w="27940">
            <a:solidFill>
              <a:srgbClr val="E0435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036076" y="2058132"/>
            <a:ext cx="184343" cy="-184343"/>
          </a:xfrm>
          <a:prstGeom prst="line">
            <a:avLst/>
          </a:prstGeom>
          <a:noFill/>
          <a:ln w="27940">
            <a:solidFill>
              <a:srgbClr val="E0435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083296" y="333756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recolor outside the approved palette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40080" y="4023360"/>
            <a:ext cx="3502152" cy="2148840"/>
          </a:xfrm>
          <a:prstGeom prst="roundRect">
            <a:avLst>
              <a:gd name="adj" fmla="val 2553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pic>
        <p:nvPicPr>
          <p:cNvPr id="24" name="Image 3" descr="/sessions/exciting-busy-einstein/mnt/outputs/mis-lowcontr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496" y="4169664"/>
            <a:ext cx="1417320" cy="113385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3685032" y="413308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435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757452" y="4205508"/>
            <a:ext cx="184343" cy="184343"/>
          </a:xfrm>
          <a:prstGeom prst="line">
            <a:avLst/>
          </a:prstGeom>
          <a:noFill/>
          <a:ln w="27940">
            <a:solidFill>
              <a:srgbClr val="E0435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757452" y="4389852"/>
            <a:ext cx="184343" cy="-184343"/>
          </a:xfrm>
          <a:prstGeom prst="line">
            <a:avLst/>
          </a:prstGeom>
          <a:noFill/>
          <a:ln w="27940">
            <a:solidFill>
              <a:srgbClr val="E0435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04672" y="566928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place it on a low-contrast background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279392" y="4023360"/>
            <a:ext cx="3502152" cy="2148840"/>
          </a:xfrm>
          <a:prstGeom prst="roundRect">
            <a:avLst>
              <a:gd name="adj" fmla="val 2553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pic>
        <p:nvPicPr>
          <p:cNvPr id="30" name="Image 4" descr="/sessions/exciting-busy-einstein/mnt/outputs/mis-shad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4169664"/>
            <a:ext cx="1417320" cy="113385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7324344" y="413308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435B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396764" y="4205508"/>
            <a:ext cx="184343" cy="184343"/>
          </a:xfrm>
          <a:prstGeom prst="line">
            <a:avLst/>
          </a:prstGeom>
          <a:noFill/>
          <a:ln w="27940">
            <a:solidFill>
              <a:srgbClr val="E0435B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396764" y="4389852"/>
            <a:ext cx="184343" cy="-184343"/>
          </a:xfrm>
          <a:prstGeom prst="line">
            <a:avLst/>
          </a:prstGeom>
          <a:noFill/>
          <a:ln w="27940">
            <a:solidFill>
              <a:srgbClr val="E0435B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443984" y="566928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add drop shadows or other effects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7918704" y="4023360"/>
            <a:ext cx="3502152" cy="2148840"/>
          </a:xfrm>
          <a:prstGeom prst="roundRect">
            <a:avLst>
              <a:gd name="adj" fmla="val 2553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pic>
        <p:nvPicPr>
          <p:cNvPr id="36" name="Image 5" descr="/sessions/exciting-busy-einstein/mnt/outputs/mis-busyb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0" y="4169664"/>
            <a:ext cx="1417320" cy="1133856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10963656" y="413308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435B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11036076" y="4205508"/>
            <a:ext cx="184343" cy="184343"/>
          </a:xfrm>
          <a:prstGeom prst="line">
            <a:avLst/>
          </a:prstGeom>
          <a:noFill/>
          <a:ln w="27940">
            <a:solidFill>
              <a:srgbClr val="E0435B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11036076" y="4389852"/>
            <a:ext cx="184343" cy="-184343"/>
          </a:xfrm>
          <a:prstGeom prst="line">
            <a:avLst/>
          </a:prstGeom>
          <a:noFill/>
          <a:ln w="27940">
            <a:solidFill>
              <a:srgbClr val="E0435B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083296" y="566928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place it over busy photography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42" name="Text 34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2-1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337560" cy="1737360"/>
          </a:xfrm>
          <a:prstGeom prst="roundRect">
            <a:avLst>
              <a:gd name="adj" fmla="val 3158"/>
            </a:avLst>
          </a:prstGeom>
          <a:solidFill>
            <a:srgbClr val="0B1C2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Navy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9626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#0B1C2C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R11 G28 B44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60520" y="1554480"/>
            <a:ext cx="3337560" cy="1737360"/>
          </a:xfrm>
          <a:prstGeom prst="roundRect">
            <a:avLst>
              <a:gd name="adj" fmla="val 3158"/>
            </a:avLst>
          </a:prstGeom>
          <a:solidFill>
            <a:srgbClr val="1FB6A8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43400" y="29626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#1FB6A8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43400" y="16916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4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R31 G182 B168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680960" y="1554480"/>
            <a:ext cx="3337560" cy="1737360"/>
          </a:xfrm>
          <a:prstGeom prst="roundRect">
            <a:avLst>
              <a:gd name="adj" fmla="val 3158"/>
            </a:avLst>
          </a:prstGeom>
          <a:solidFill>
            <a:srgbClr val="149487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Dark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63840" y="29626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#149487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0" y="16916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R20 G148 B135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5A623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(alert)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5166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2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#F5A623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402336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C7D4DC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4937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56432" y="5166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#C7D4DC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0" y="402336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7C93A6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08192" y="4937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 Slate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08192" y="5166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2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#7C93A6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595360" y="402336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0F2536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59952" y="4937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Navy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759952" y="5166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2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#0F2536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5669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is reserved for alerts and warnings — never used decoratively or as a second brand color.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2-2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Cambria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Serif · Bold · Used for titles, section heads, and pull quotes only.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&amp; UI TEXT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Sans-serif · Regular / Bold / Italic · Used for everything else — body copy, labels, data, UI.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75120" y="1554480"/>
            <a:ext cx="4846320" cy="4297680"/>
          </a:xfrm>
          <a:prstGeom prst="roundRect">
            <a:avLst>
              <a:gd name="adj" fmla="val 1702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1783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4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SCALE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494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title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15400" y="2194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Cambria Bold, 28–36pt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49440" y="27980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15400" y="279806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Bold, 18–22pt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49440" y="3401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34015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Regular, 12–15pt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49440" y="4005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footer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15400" y="4005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Regular, 9–11pt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49440" y="46085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figures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15400" y="46085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New, tabular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2-3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Iconography &amp; Graphic Motif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four-pillar system is Quorelia's recurring graphic motif — numbered circles, always in this order, across every material.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554480" y="2304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92424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1024" y="2194560"/>
            <a:ext cx="502920" cy="50292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1" name="Text 9"/>
          <p:cNvSpPr/>
          <p:nvPr/>
        </p:nvSpPr>
        <p:spPr>
          <a:xfrm>
            <a:off x="3621024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4306824" y="2304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44768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3368" y="2194560"/>
            <a:ext cx="502920" cy="50292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5" name="Text 13"/>
          <p:cNvSpPr/>
          <p:nvPr/>
        </p:nvSpPr>
        <p:spPr>
          <a:xfrm>
            <a:off x="637336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7059168" y="2304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97112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25712" y="2194560"/>
            <a:ext cx="502920" cy="50292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9" name="Text 17"/>
          <p:cNvSpPr/>
          <p:nvPr/>
        </p:nvSpPr>
        <p:spPr>
          <a:xfrm>
            <a:off x="9125712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9811512" y="2304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DOT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" y="4114800"/>
            <a:ext cx="137160" cy="1371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4160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amber accent dot on the Q badge represents an active alert — it appears only in application design where a live/status state is being shown (dashboards, signage), never as a generic decoration.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COLOR CODING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394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FD07A"/>
          </a:solidFill>
          <a:ln/>
        </p:spPr>
      </p:sp>
      <p:sp>
        <p:nvSpPr>
          <p:cNvPr id="27" name="Text 25"/>
          <p:cNvSpPr/>
          <p:nvPr/>
        </p:nvSpPr>
        <p:spPr>
          <a:xfrm>
            <a:off x="932688" y="5330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06040" y="5394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2B441"/>
          </a:solidFill>
          <a:ln/>
        </p:spPr>
      </p:sp>
      <p:sp>
        <p:nvSpPr>
          <p:cNvPr id="29" name="Text 27"/>
          <p:cNvSpPr/>
          <p:nvPr/>
        </p:nvSpPr>
        <p:spPr>
          <a:xfrm>
            <a:off x="2898648" y="5330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5394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5330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37960" y="5394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3B4E"/>
          </a:solidFill>
          <a:ln/>
        </p:spPr>
      </p:sp>
      <p:sp>
        <p:nvSpPr>
          <p:cNvPr id="33" name="Text 31"/>
          <p:cNvSpPr/>
          <p:nvPr/>
        </p:nvSpPr>
        <p:spPr>
          <a:xfrm>
            <a:off x="6830568" y="5330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743200"/>
            <a:ext cx="6400800" cy="6400800"/>
          </a:xfrm>
          <a:prstGeom prst="ellipse">
            <a:avLst/>
          </a:prstGeom>
          <a:solidFill>
            <a:srgbClr val="122A4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68680" y="33832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Design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68680" y="4069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system applied to what clients and partners actually see.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1-1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89 × 51mm  ·  Scale: 70%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" y="1920240"/>
            <a:ext cx="41605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E3E9EC"/>
            </a:solidFill>
            <a:prstDash val="solid"/>
          </a:ln>
        </p:spPr>
      </p:sp>
      <p:pic>
        <p:nvPicPr>
          <p:cNvPr id="6" name="Image 0" descr="/sessions/exciting-busy-einstein/mnt/outputs/quorelia-qmark-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148840"/>
            <a:ext cx="50292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12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QUORELIA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8016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Fernández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Reporting Engineering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280160" y="3977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hello@quorelia.io   ·   quorelia.io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532120" y="1920240"/>
            <a:ext cx="4160520" cy="2377440"/>
          </a:xfrm>
          <a:prstGeom prst="roundRect">
            <a:avLst>
              <a:gd name="adj" fmla="val 3077"/>
            </a:avLst>
          </a:prstGeom>
          <a:solidFill>
            <a:srgbClr val="0B1C2C"/>
          </a:solidFill>
          <a:ln/>
        </p:spPr>
      </p:sp>
      <p:pic>
        <p:nvPicPr>
          <p:cNvPr id="12" name="Image 1" descr="/sessions/exciting-busy-einstein/mnt/outputs/quorelia-qmark-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743200"/>
            <a:ext cx="1325880" cy="12070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44805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— contact details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532120" y="44805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— symbol only, navy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1-2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Signature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Plain-text-safe, single logo image, no more than three lines of contact detail.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772400" cy="1920240"/>
          </a:xfrm>
          <a:prstGeom prst="roundRect">
            <a:avLst>
              <a:gd name="adj" fmla="val 2857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pic>
        <p:nvPicPr>
          <p:cNvPr id="6" name="Image 0" descr="/sessions/exciting-busy-einstein/mnt/outputs/quorelia-qmark-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68580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83080" y="1920240"/>
            <a:ext cx="0" cy="137160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Fernández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01168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Reporting Engineering  ·  Quorelia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011680" y="2468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hello@quorelia.io   ·   quorelia.io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011680" y="2880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INTELLIGENT OVERSIGHT FOR RENEWABLE ENERGY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40080" y="3931920"/>
            <a:ext cx="77724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88720" y="41148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logo image, hosted — never a large attachment.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88720" y="45262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animated banners, quotes, or social icon walls.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4400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88720" y="49377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layout for every team member; only the name/title/photo change.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1-3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Letterhead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 ·  210 × 297mm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794760" y="1600200"/>
            <a:ext cx="3337560" cy="4617720"/>
          </a:xfrm>
          <a:prstGeom prst="roundRect">
            <a:avLst>
              <a:gd name="adj" fmla="val 548"/>
            </a:avLst>
          </a:prstGeom>
          <a:solidFill>
            <a:srgbClr val="FFFFFF"/>
          </a:solidFill>
          <a:ln w="15875">
            <a:solidFill>
              <a:srgbClr val="E3E9EC"/>
            </a:solidFill>
            <a:prstDash val="solid"/>
          </a:ln>
        </p:spPr>
      </p:sp>
      <p:pic>
        <p:nvPicPr>
          <p:cNvPr id="6" name="Image 0" descr="/sessions/exciting-busy-einstein/mnt/outputs/quorelia-qmark-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810512"/>
            <a:ext cx="384048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480560" y="1856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QUORELIA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023360" y="2651760"/>
            <a:ext cx="2880360" cy="0"/>
          </a:xfrm>
          <a:prstGeom prst="line">
            <a:avLst/>
          </a:prstGeom>
          <a:noFill/>
          <a:ln w="12700">
            <a:solidFill>
              <a:srgbClr val="E9ED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23360" y="2944368"/>
            <a:ext cx="2880360" cy="0"/>
          </a:xfrm>
          <a:prstGeom prst="line">
            <a:avLst/>
          </a:prstGeom>
          <a:noFill/>
          <a:ln w="12700">
            <a:solidFill>
              <a:srgbClr val="E9ED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23360" y="3236976"/>
            <a:ext cx="2880360" cy="0"/>
          </a:xfrm>
          <a:prstGeom prst="line">
            <a:avLst/>
          </a:prstGeom>
          <a:noFill/>
          <a:ln w="12700">
            <a:solidFill>
              <a:srgbClr val="E9ED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23360" y="3529584"/>
            <a:ext cx="2880360" cy="0"/>
          </a:xfrm>
          <a:prstGeom prst="line">
            <a:avLst/>
          </a:prstGeom>
          <a:noFill/>
          <a:ln w="12700">
            <a:solidFill>
              <a:srgbClr val="E9ED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23360" y="3822192"/>
            <a:ext cx="2880360" cy="0"/>
          </a:xfrm>
          <a:prstGeom prst="line">
            <a:avLst/>
          </a:prstGeom>
          <a:noFill/>
          <a:ln w="12700">
            <a:solidFill>
              <a:srgbClr val="E9ED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23360" y="4114800"/>
            <a:ext cx="2880360" cy="0"/>
          </a:xfrm>
          <a:prstGeom prst="line">
            <a:avLst/>
          </a:prstGeom>
          <a:noFill/>
          <a:ln w="12700">
            <a:solidFill>
              <a:srgbClr val="E9ED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23360" y="4407408"/>
            <a:ext cx="2880360" cy="0"/>
          </a:xfrm>
          <a:prstGeom prst="line">
            <a:avLst/>
          </a:prstGeom>
          <a:noFill/>
          <a:ln w="12700">
            <a:solidFill>
              <a:srgbClr val="E9ED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23360" y="4700016"/>
            <a:ext cx="2880360" cy="0"/>
          </a:xfrm>
          <a:prstGeom prst="line">
            <a:avLst/>
          </a:prstGeom>
          <a:noFill/>
          <a:ln w="12700">
            <a:solidFill>
              <a:srgbClr val="E9ED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23360" y="4992624"/>
            <a:ext cx="2880360" cy="0"/>
          </a:xfrm>
          <a:prstGeom prst="line">
            <a:avLst/>
          </a:prstGeom>
          <a:noFill/>
          <a:ln w="12700">
            <a:solidFill>
              <a:srgbClr val="E9EDEF"/>
            </a:solidFill>
            <a:prstDash val="solid"/>
          </a:ln>
        </p:spPr>
      </p:sp>
      <p:pic>
        <p:nvPicPr>
          <p:cNvPr id="17" name="Image 1" descr="/sessions/exciting-busy-einstein/mnt/outputs/ci-qmark-white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5806440" y="5120640"/>
            <a:ext cx="1097280" cy="9966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023360" y="598932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hello@quorelia.io  ·  quorelia.io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1-4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PowerPoint Template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16:9  ·  Title and content masters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120640" cy="2880360"/>
          </a:xfrm>
          <a:prstGeom prst="roundRect">
            <a:avLst>
              <a:gd name="adj" fmla="val 1270"/>
            </a:avLst>
          </a:prstGeom>
          <a:solidFill>
            <a:srgbClr val="0B1C2C"/>
          </a:solidFill>
          <a:ln/>
        </p:spPr>
      </p:sp>
      <p:pic>
        <p:nvPicPr>
          <p:cNvPr id="6" name="Image 0" descr="/sessions/exciting-busy-einstein/mnt/outputs/quorelia-qmark-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777240" cy="704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QUORELIA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 goes here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4663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master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43600" y="1691640"/>
            <a:ext cx="5120640" cy="288036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5875">
            <a:solidFill>
              <a:srgbClr val="E3E9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header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2377440"/>
            <a:ext cx="1481328" cy="1828800"/>
          </a:xfrm>
          <a:prstGeom prst="roundRect">
            <a:avLst>
              <a:gd name="adj" fmla="val 2469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0" y="2377440"/>
            <a:ext cx="1481328" cy="1828800"/>
          </a:xfrm>
          <a:prstGeom prst="roundRect">
            <a:avLst>
              <a:gd name="adj" fmla="val 2469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372600" y="2377440"/>
            <a:ext cx="1481328" cy="1828800"/>
          </a:xfrm>
          <a:prstGeom prst="roundRect">
            <a:avLst>
              <a:gd name="adj" fmla="val 2469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378440" y="3337560"/>
            <a:ext cx="201168" cy="201168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0" y="4663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master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5166360"/>
            <a:ext cx="10424160" cy="868680"/>
          </a:xfrm>
          <a:prstGeom prst="roundRect">
            <a:avLst>
              <a:gd name="adj" fmla="val 8421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51663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deck (pitch, report, internal review) is built from these two masters — navy title, white content, Cambria heads, Calibri body.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1-5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Template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 ·  Cover and data-page layout for automated reports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280160" y="1691640"/>
            <a:ext cx="3063240" cy="4343400"/>
          </a:xfrm>
          <a:prstGeom prst="roundRect">
            <a:avLst>
              <a:gd name="adj" fmla="val 597"/>
            </a:avLst>
          </a:prstGeom>
          <a:solidFill>
            <a:srgbClr val="0B1C2C"/>
          </a:solidFill>
          <a:ln/>
        </p:spPr>
      </p:sp>
      <p:pic>
        <p:nvPicPr>
          <p:cNvPr id="6" name="Image 0" descr="/sessions/exciting-busy-einstein/mnt/outputs/quorelia-qmark-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011680"/>
            <a:ext cx="594360" cy="5394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4297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Quorelia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Report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5029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175  ·  August 2026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280160" y="6172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691640"/>
            <a:ext cx="6309360" cy="4343400"/>
          </a:xfrm>
          <a:prstGeom prst="roundRect">
            <a:avLst>
              <a:gd name="adj" fmla="val 421"/>
            </a:avLst>
          </a:prstGeom>
          <a:solidFill>
            <a:srgbClr val="FFFFFF"/>
          </a:solidFill>
          <a:ln w="15875">
            <a:solidFill>
              <a:srgbClr val="E3E9EC"/>
            </a:solidFill>
            <a:prstDash val="solid"/>
          </a:ln>
        </p:spPr>
      </p:sp>
      <p:pic>
        <p:nvPicPr>
          <p:cNvPr id="11" name="Image 1" descr="/sessions/exciting-busy-einstein/mnt/outputs/quorelia-qmark-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74520"/>
            <a:ext cx="292608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901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QUORELIA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8920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Availability (GAA)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892040" y="2880360"/>
            <a:ext cx="640080" cy="777240"/>
          </a:xfrm>
          <a:prstGeom prst="rect">
            <a:avLst/>
          </a:prstGeom>
          <a:solidFill>
            <a:srgbClr val="1FB6A8"/>
          </a:solidFill>
          <a:ln/>
        </p:spPr>
      </p:sp>
      <p:sp>
        <p:nvSpPr>
          <p:cNvPr id="15" name="Shape 11"/>
          <p:cNvSpPr/>
          <p:nvPr/>
        </p:nvSpPr>
        <p:spPr>
          <a:xfrm>
            <a:off x="5806440" y="3108960"/>
            <a:ext cx="640080" cy="548640"/>
          </a:xfrm>
          <a:prstGeom prst="rect">
            <a:avLst/>
          </a:prstGeom>
          <a:solidFill>
            <a:srgbClr val="1FB6A8"/>
          </a:solidFill>
          <a:ln/>
        </p:spPr>
      </p:sp>
      <p:sp>
        <p:nvSpPr>
          <p:cNvPr id="16" name="Shape 12"/>
          <p:cNvSpPr/>
          <p:nvPr/>
        </p:nvSpPr>
        <p:spPr>
          <a:xfrm>
            <a:off x="6720840" y="2816352"/>
            <a:ext cx="640080" cy="841248"/>
          </a:xfrm>
          <a:prstGeom prst="rect">
            <a:avLst/>
          </a:prstGeom>
          <a:solidFill>
            <a:srgbClr val="1FB6A8"/>
          </a:solidFill>
          <a:ln/>
        </p:spPr>
      </p:sp>
      <p:sp>
        <p:nvSpPr>
          <p:cNvPr id="17" name="Shape 13"/>
          <p:cNvSpPr/>
          <p:nvPr/>
        </p:nvSpPr>
        <p:spPr>
          <a:xfrm>
            <a:off x="7635240" y="3017520"/>
            <a:ext cx="640080" cy="640080"/>
          </a:xfrm>
          <a:prstGeom prst="rect">
            <a:avLst/>
          </a:prstGeom>
          <a:solidFill>
            <a:srgbClr val="1FB6A8"/>
          </a:solidFill>
          <a:ln/>
        </p:spPr>
      </p:sp>
      <p:sp>
        <p:nvSpPr>
          <p:cNvPr id="18" name="Shape 14"/>
          <p:cNvSpPr/>
          <p:nvPr/>
        </p:nvSpPr>
        <p:spPr>
          <a:xfrm>
            <a:off x="8549640" y="3200400"/>
            <a:ext cx="640080" cy="457200"/>
          </a:xfrm>
          <a:prstGeom prst="rect">
            <a:avLst/>
          </a:prstGeom>
          <a:solidFill>
            <a:srgbClr val="1FB6A8"/>
          </a:solidFill>
          <a:ln/>
        </p:spPr>
      </p:sp>
      <p:sp>
        <p:nvSpPr>
          <p:cNvPr id="19" name="Shape 15"/>
          <p:cNvSpPr/>
          <p:nvPr/>
        </p:nvSpPr>
        <p:spPr>
          <a:xfrm>
            <a:off x="9464040" y="2788920"/>
            <a:ext cx="640080" cy="868680"/>
          </a:xfrm>
          <a:prstGeom prst="rect">
            <a:avLst/>
          </a:prstGeom>
          <a:solidFill>
            <a:srgbClr val="1FB6A8"/>
          </a:solidFill>
          <a:ln/>
        </p:spPr>
      </p:sp>
      <p:sp>
        <p:nvSpPr>
          <p:cNvPr id="20" name="Shape 16"/>
          <p:cNvSpPr/>
          <p:nvPr/>
        </p:nvSpPr>
        <p:spPr>
          <a:xfrm>
            <a:off x="4892040" y="3657600"/>
            <a:ext cx="5806440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920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Verification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892040" y="4206240"/>
            <a:ext cx="5806440" cy="0"/>
          </a:xfrm>
          <a:prstGeom prst="line">
            <a:avLst/>
          </a:prstGeom>
          <a:noFill/>
          <a:ln w="12700">
            <a:solidFill>
              <a:srgbClr val="E9EDE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892040" y="4526280"/>
            <a:ext cx="5806440" cy="0"/>
          </a:xfrm>
          <a:prstGeom prst="line">
            <a:avLst/>
          </a:prstGeom>
          <a:noFill/>
          <a:ln w="12700">
            <a:solidFill>
              <a:srgbClr val="E9EDE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92040" y="4846320"/>
            <a:ext cx="5806440" cy="0"/>
          </a:xfrm>
          <a:prstGeom prst="line">
            <a:avLst/>
          </a:prstGeom>
          <a:noFill/>
          <a:ln w="12700">
            <a:solidFill>
              <a:srgbClr val="E9EDE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63440" y="61722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page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2-1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system as implemented at quorelia.io — the canonical reference for digital use.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0515600" cy="4251960"/>
          </a:xfrm>
          <a:prstGeom prst="roundRect">
            <a:avLst>
              <a:gd name="adj" fmla="val 1290"/>
            </a:avLst>
          </a:prstGeom>
          <a:solidFill>
            <a:srgbClr val="0A142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38528"/>
            <a:ext cx="91440" cy="91440"/>
          </a:xfrm>
          <a:prstGeom prst="ellipse">
            <a:avLst/>
          </a:prstGeom>
          <a:solidFill>
            <a:srgbClr val="2A3A4D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938528"/>
            <a:ext cx="91440" cy="91440"/>
          </a:xfrm>
          <a:prstGeom prst="ellipse">
            <a:avLst/>
          </a:prstGeom>
          <a:solidFill>
            <a:srgbClr val="2A3A4D"/>
          </a:solidFill>
          <a:ln/>
        </p:spPr>
      </p:sp>
      <p:sp>
        <p:nvSpPr>
          <p:cNvPr id="8" name="Shape 6"/>
          <p:cNvSpPr/>
          <p:nvPr/>
        </p:nvSpPr>
        <p:spPr>
          <a:xfrm>
            <a:off x="1362456" y="1938528"/>
            <a:ext cx="91440" cy="91440"/>
          </a:xfrm>
          <a:prstGeom prst="ellipse">
            <a:avLst/>
          </a:prstGeom>
          <a:solidFill>
            <a:srgbClr val="2A3A4D"/>
          </a:solidFill>
          <a:ln/>
        </p:spPr>
      </p:sp>
      <p:pic>
        <p:nvPicPr>
          <p:cNvPr id="9" name="Image 0" descr="/sessions/exciting-busy-einstein/mnt/outputs/ci-qmar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77440"/>
            <a:ext cx="411480" cy="374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2432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QUORELIA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INTELLIGENT OVERSIGHT FOR RENEWABLE ENERGY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728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7D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energy. Always under watch.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097280" y="420624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FB6A8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206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demo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implementation: quorelia-website.html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2-2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 Profile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only, centered, on solid navy — consistent across every platform.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34440" y="2468880"/>
            <a:ext cx="1737360" cy="1737360"/>
          </a:xfrm>
          <a:prstGeom prst="ellipse">
            <a:avLst/>
          </a:prstGeom>
          <a:solidFill>
            <a:srgbClr val="0B1C2C"/>
          </a:solidFill>
          <a:ln/>
        </p:spPr>
      </p:sp>
      <p:pic>
        <p:nvPicPr>
          <p:cNvPr id="6" name="Image 0" descr="/sessions/exciting-busy-einstein/mnt/outputs/quorelia-qmark-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2418" y="2746858"/>
            <a:ext cx="1181405" cy="10771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023360" y="2468880"/>
            <a:ext cx="1463040" cy="1463040"/>
          </a:xfrm>
          <a:prstGeom prst="ellipse">
            <a:avLst/>
          </a:prstGeom>
          <a:solidFill>
            <a:srgbClr val="0B1C2C"/>
          </a:solidFill>
          <a:ln/>
        </p:spPr>
      </p:sp>
      <p:pic>
        <p:nvPicPr>
          <p:cNvPr id="9" name="Image 1" descr="/sessions/exciting-busy-einstein/mnt/outputs/quorelia-qmark-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446" y="2702966"/>
            <a:ext cx="994867" cy="9070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812280" y="2468880"/>
            <a:ext cx="1188720" cy="1188720"/>
          </a:xfrm>
          <a:prstGeom prst="ellipse">
            <a:avLst/>
          </a:prstGeom>
          <a:solidFill>
            <a:srgbClr val="0B1C2C"/>
          </a:solidFill>
          <a:ln/>
        </p:spPr>
      </p:sp>
      <p:pic>
        <p:nvPicPr>
          <p:cNvPr id="12" name="Image 2" descr="/sessions/exciting-busy-einstein/mnt/outputs/quorelia-qmark-on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75" y="2659075"/>
            <a:ext cx="808330" cy="7370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648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Twitter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9669780" y="2468880"/>
            <a:ext cx="777240" cy="777240"/>
          </a:xfrm>
          <a:prstGeom prst="ellipse">
            <a:avLst/>
          </a:prstGeom>
          <a:solidFill>
            <a:srgbClr val="0B1C2C"/>
          </a:solidFill>
          <a:ln/>
        </p:spPr>
      </p:sp>
      <p:pic>
        <p:nvPicPr>
          <p:cNvPr id="15" name="Image 3" descr="/sessions/exciting-busy-einstein/mnt/outputs/quorelia-qmark-onl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4138" y="2593238"/>
            <a:ext cx="528523" cy="48188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7824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Favicon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40080" y="4937760"/>
            <a:ext cx="10424160" cy="1051560"/>
          </a:xfrm>
          <a:prstGeom prst="roundRect">
            <a:avLst>
              <a:gd name="adj" fmla="val 6957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914400" y="493776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the full lockup (symbol + wordmark) as a profile image — at small, circular crop sizes the wordmark becomes illegible. Symbol only, every time.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CORPORATE IDENTITY MANUAL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122A40"/>
          </a:solidFill>
          <a:ln/>
        </p:spPr>
      </p:sp>
      <p:sp>
        <p:nvSpPr>
          <p:cNvPr id="3" name="Text 1"/>
          <p:cNvSpPr/>
          <p:nvPr/>
        </p:nvSpPr>
        <p:spPr>
          <a:xfrm>
            <a:off x="8138160" y="457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438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Governance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manual is a living document. As Quorelia moves from a single-plant beta engagement toward a multi-client platform, the system will extend — new applications, not a new identity.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24414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logo files, color values, and templates in this manual are the single source of truth. Do not recreate them from screenshots.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321868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applications (merchandise, signage, partner co-branding) should follow BS 1-5 and BS 1-6 before anything is produced or printed.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39959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August 2026. Supersedes all earlier informal logo files and color references.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hello@quorelia.io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50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"Quorelia" is a proposed working name; quorelia.com is already registered by a third party. This manual assumes an alternate domain (quorelia.io) pending formal trademark and domain clearance.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2026-08-08T17:10:03Z</dcterms:created>
  <dcterms:modified xsi:type="dcterms:W3CDTF">2026-08-08T17:10:03Z</dcterms:modified>
</cp:coreProperties>
</file>